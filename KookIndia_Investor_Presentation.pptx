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E05326"/>
                </a:solidFill>
              </a:defRPr>
            </a:pPr>
            <a:r>
              <a:t>KookIndia</a:t>
            </a:r>
          </a:p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Empowering 300M+ Indian Homemakers to Deliver Authentic Regional Home Food.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Seed Round Investment Pitch Deck &amp; Product Blueprint | Non-Technical Investor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Presenter: Nithin Joseph &amp; Engineering Team  |  GitHub: https://github.com/njoseph11224-tech/kookindia.git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The Market Problem: What Breaks in Food Delivery Today?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E05326"/>
                </a:solidFill>
              </a:defRPr>
            </a:pPr>
            <a:r>
              <a:t>1. Customer Pain: Restaurant Fatigue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85 Million+ urban professionals &amp; students in Indian metros eat out daily.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Commercial dark kitchens overuse heavy palm oil, artificial colors &amp; spices.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High daily cost: Restaurant meals are expensive (₹350-₹500 per meal).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Zero authentic regional options: Hard to find genuine Gujarati, Bengali, Chettinad, or Jain home food.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E05326"/>
                </a:solidFill>
              </a:defRPr>
            </a:pPr>
            <a:r>
              <a:t>2. Homemaker Pain: Zero Monetization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300 Million+ Indian homemakers possess elite culinary skills.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High barrier to entry: Opening a cloud kitchen costs ₹15-20 Lakhs in upfront capital.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Heavy platform commissions: Zomato &amp; Swiggy charge 25% - 30% from kitchens.</a:t>
            </a:r>
          </a:p>
          <a:p>
            <a:pPr>
              <a:spcAft>
                <a:spcPts val="1000"/>
              </a:spcAft>
              <a:defRPr sz="1200">
                <a:solidFill>
                  <a:srgbClr val="1E1B18"/>
                </a:solidFill>
              </a:defRPr>
            </a:pPr>
            <a:r>
              <a:t>• Marketing &amp; delivery hurdle: Homemakers cannot manage delivery drivers or online marketing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The KookIndia Solution: Uber for Home Chefs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E1B18"/>
                </a:solidFill>
              </a:defRPr>
            </a:pPr>
            <a:r>
              <a:t>A Tech Marketplace Connecting Verified Home Kitchens with Urban Food Lovers.</a:t>
            </a:r>
          </a:p>
          <a:p>
            <a:pPr>
              <a:spcAft>
                <a:spcPts val="1200"/>
              </a:spcAft>
              <a:defRPr sz="1300">
                <a:solidFill>
                  <a:srgbClr val="1E1B18"/>
                </a:solidFill>
              </a:defRPr>
            </a:pPr>
            <a:r>
              <a:t>🥗 Fresh Ghar Ka Khana: Cooked in small batches by homemakers using cold-pressed oils, fresh vegetables, and hand-ground spices.</a:t>
            </a:r>
          </a:p>
          <a:p>
            <a:pPr>
              <a:spcAft>
                <a:spcPts val="1200"/>
              </a:spcAft>
              <a:defRPr sz="1300">
                <a:solidFill>
                  <a:srgbClr val="1E1B18"/>
                </a:solidFill>
              </a:defRPr>
            </a:pPr>
            <a:r>
              <a:t>🛵 Zero Delivery Logistics Overhead: We integrate directly with Dunzo, Porter &amp; Borzo to pick up meals straight from the cook's home.</a:t>
            </a:r>
          </a:p>
          <a:p>
            <a:pPr>
              <a:spcAft>
                <a:spcPts val="1200"/>
              </a:spcAft>
              <a:defRPr sz="1300">
                <a:solidFill>
                  <a:srgbClr val="1E1B18"/>
                </a:solidFill>
              </a:defRPr>
            </a:pPr>
            <a:r>
              <a:t>⚡ Pre-Order &amp; Ready-Batch Model: Homemakers cook with 2-hour advance notices or prepare ready-to-serve batches, eliminating food waste.</a:t>
            </a:r>
          </a:p>
          <a:p>
            <a:pPr>
              <a:spcAft>
                <a:spcPts val="1200"/>
              </a:spcAft>
              <a:defRPr sz="1300">
                <a:solidFill>
                  <a:srgbClr val="1E1B18"/>
                </a:solidFill>
              </a:defRPr>
            </a:pPr>
            <a:r>
              <a:t>🛡️ 100% FSSAI Hygiene Verified: We assist home cooks in obtaining their ₹100/yr FSSAI license and conduct virtual kitchen inspections.</a:t>
            </a:r>
          </a:p>
          <a:p>
            <a:pPr>
              <a:spcAft>
                <a:spcPts val="1200"/>
              </a:spcAft>
              <a:defRPr sz="1300">
                <a:solidFill>
                  <a:srgbClr val="1E1B18"/>
                </a:solidFill>
              </a:defRPr>
            </a:pPr>
            <a:r>
              <a:t>📅 Daily Office Tiffin Subscriptions: Recurring monthly meal plans for bachelors and corporate workers, providing steady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How KookIndia Works (3 Simple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5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E05326"/>
                </a:solidFill>
              </a:defRPr>
            </a:pPr>
            <a:r>
              <a:t>Step 1: Discover Local Kitchens</a:t>
            </a:r>
          </a:p>
          <a:p>
            <a:pPr>
              <a:defRPr sz="1200">
                <a:solidFill>
                  <a:srgbClr val="1E1B18"/>
                </a:solidFill>
              </a:defRPr>
            </a:pPr>
            <a:r>
              <a:t>Customer selects city &amp; locality (e.g. Bangalore - Indiranagar). Filters by North Indian, Chettinad, Gujarati, Bengali, or Jain thalis.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918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1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E1B18"/>
                </a:solidFill>
              </a:defRPr>
            </a:pPr>
            <a:r>
              <a:t>Step 2: Pre-Order or Subscribe</a:t>
            </a:r>
          </a:p>
          <a:p>
            <a:pPr>
              <a:defRPr sz="1200">
                <a:solidFill>
                  <a:srgbClr val="1E1B18"/>
                </a:solidFill>
              </a:defRPr>
            </a:pPr>
            <a:r>
              <a:t>Customer picks a single meal or subscribes to a 30-day Mon-Fri lunch plan. Items can be combined from multiple chefs in 1 basket.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47857"/>
                </a:solidFill>
              </a:defRPr>
            </a:pPr>
            <a:r>
              <a:t>Step 3: Fresh Doorstep Delivery</a:t>
            </a:r>
          </a:p>
          <a:p>
            <a:pPr>
              <a:defRPr sz="1200">
                <a:solidFill>
                  <a:srgbClr val="1E1B18"/>
                </a:solidFill>
              </a:defRPr>
            </a:pPr>
            <a:r>
              <a:t>The home cook receives the order, cooks it fresh, and hyperlocal drivers (Dunzo/Porter) deliver piping hot to the customer.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Market Opportunity: $40 Billion+ Indian Food Industry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 b="1">
                <a:solidFill>
                  <a:srgbClr val="E05326"/>
                </a:solidFill>
              </a:defRPr>
            </a:pPr>
            <a:r>
              <a:t>$40 Billion+</a:t>
            </a:r>
          </a:p>
          <a:p>
            <a:pPr>
              <a:spcAft>
                <a:spcPts val="1000"/>
              </a:spcAft>
              <a:defRPr sz="1400" b="1">
                <a:solidFill>
                  <a:srgbClr val="1E1B18"/>
                </a:solidFill>
              </a:defRPr>
            </a:pPr>
            <a:r>
              <a:t>Total Addressable Market (TAM)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Indian Food Services &amp; Delivery Industry by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 b="1">
                <a:solidFill>
                  <a:srgbClr val="F59E0B"/>
                </a:solidFill>
              </a:defRPr>
            </a:pPr>
            <a:r>
              <a:t>$6 Billion+</a:t>
            </a:r>
          </a:p>
          <a:p>
            <a:pPr>
              <a:spcAft>
                <a:spcPts val="1000"/>
              </a:spcAft>
              <a:defRPr sz="1400" b="1">
                <a:solidFill>
                  <a:srgbClr val="1E1B18"/>
                </a:solidFill>
              </a:defRPr>
            </a:pPr>
            <a:r>
              <a:t>Serviceable Market (SAM)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Home Tiffin &amp; Regional Meal Market in Top 10 Indian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 b="1">
                <a:solidFill>
                  <a:srgbClr val="047857"/>
                </a:solidFill>
              </a:defRPr>
            </a:pPr>
            <a:r>
              <a:t>$150 Million</a:t>
            </a:r>
          </a:p>
          <a:p>
            <a:pPr>
              <a:spcAft>
                <a:spcPts val="1000"/>
              </a:spcAft>
              <a:defRPr sz="1400" b="1">
                <a:solidFill>
                  <a:srgbClr val="1E1B18"/>
                </a:solidFill>
              </a:defRPr>
            </a:pPr>
            <a:r>
              <a:t>3-Year SOM Goal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Gross Merchandise Value target across 6 launch metros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Business Model: How KookIndia Generates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1. Marketplace Commission (12% - 15%)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We charge home cooks a small 12-15% fee per completed dish order (compared to Zomato's heavy 25-30% commission).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2. Monthly Tiffin Subscriptions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Recurring monthly upfront subscription payments from office goers (High retention &amp; zero customer churn).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3. Hyperlocal Delivery Markup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Nominal delivery fee passed to logistics partners (Dunzo/Porter) with platform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4. Featured Kitchen Ads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Promoted banner listings for home cooks wishing to boost order volumes on top of city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Unit Economics: Exceptional 20x LTV:CAC Ratio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 (₹)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Plain English Explanation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Average Order Value (AOV)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Typical customer basket size (2 regional meals or thali)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Platform Commission (14%)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₹53.20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Our core marketplace cut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Platform Hygiene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Fixed per-order platform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Gross Margin / Order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₹68.20 (18%)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Net revenue generated per order after payment fees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Customer Acquisition Cost (CAC)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Cost to acquire 1 new active customer via digital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Customer Lifetime Value (LTV)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B18"/>
                          </a:solidFill>
                        </a:defRPr>
                      </a:pPr>
                      <a:r>
                        <a:t>₹2,400.00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Total revenue generated per customer (20 orders/year)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Live Working Prototype &amp;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🛒 Multi-Chef Grouped Cart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Customers can add dishes from multiple neighborhood cooks in 1 order. Our backend splits the order and dispatches drivers to both kitchens in parallel.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👨‍🍳 Homemaker Kitchen Portal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Simple dashboard for home cooks: Kitchen OPEN/CLOSED toggle, Photo Upload file picker with live preview, Advance Pre-Batch setup, and 1-click Bulk Order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🛡️ Admin Verification &amp; Support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Operations portal for FSSAI license verification (`21223190004512`), virtual kitchen photo audits, and 15-minute customer complaint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05326"/>
                </a:solidFill>
              </a:defRPr>
            </a:pPr>
            <a:r>
              <a:t>📱 Modern Tech Stack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Built with Next.js 16 (App Router), TypeScript, Tailwind CSS, and Supabase PostgreSQL.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Competitive Advantage: Why We Win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KookIndia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Zomato / Swiggy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Unorganized Tiffin Vendors</a:t>
                      </a:r>
                    </a:p>
                  </a:txBody>
                  <a:tcPr>
                    <a:solidFill>
                      <a:srgbClr val="1E1B1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Food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5326"/>
                          </a:solidFill>
                        </a:defRPr>
                      </a:pPr>
                      <a:r>
                        <a:t>Verified Homemakers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Commercial Restaurants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Unorganized Local Cooks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Taste &amp; Hygiene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5326"/>
                          </a:solidFill>
                        </a:defRPr>
                      </a:pPr>
                      <a:r>
                        <a:t>Homestyle, Low-Oil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Commercial Heavy Oil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Inconsistent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Commission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5326"/>
                          </a:solidFill>
                        </a:defRPr>
                      </a:pPr>
                      <a:r>
                        <a:t>12% - 15%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25% - 30%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Multi-Chef Basket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5326"/>
                          </a:solidFill>
                        </a:defRPr>
                      </a:pPr>
                      <a:r>
                        <a:t>YES (Built-in)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Tiffin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5326"/>
                          </a:solidFill>
                        </a:defRPr>
                      </a:pPr>
                      <a:r>
                        <a:t>YES (Built-in)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18"/>
                          </a:solidFill>
                        </a:defRPr>
                      </a:pPr>
                      <a:r>
                        <a:t>Cash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12-Month Execution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5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E05326"/>
                </a:solidFill>
              </a:defRPr>
            </a:pPr>
            <a:r>
              <a:t>Phase 1: Soft Launch (Q3 2026)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Launch in Bangalore (Indiranagar, Koramangala) &amp; Gurgaon (DLF Phase 1-5). Onboard 500 verified home kitchens &amp; launch web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10332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Phase 2: Regional Scale (Q4 2026)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Expand to Mumbai (Ghatkopar, Powai) &amp; Hyderabad (Banjara Hills). Release iOS &amp; Android React Native Mobile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03327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47857"/>
                </a:solidFill>
              </a:defRPr>
            </a:pPr>
            <a:r>
              <a:t>Phase 3: Hyper-Growth (Q1 2027)</a:t>
            </a:r>
          </a:p>
          <a:p>
            <a:pPr>
              <a:defRPr sz="1100">
                <a:solidFill>
                  <a:srgbClr val="1E1B18"/>
                </a:solidFill>
              </a:defRPr>
            </a:pPr>
            <a:r>
              <a:t>Cross 50,000 monthly orders. Launch B2B Corporate Tiffin Subscriptions &amp; expand to Pune and Delhi NCR.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326"/>
                </a:solidFill>
              </a:defRPr>
            </a:pPr>
            <a:r>
              <a:t>KOOKINDIA INVESTOR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18"/>
                </a:solidFill>
              </a:defRPr>
            </a:pPr>
            <a:r>
              <a:t>Investment Ask &amp; Allocation of 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1E1B1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Seeking $500,000 (Seed Round / ~₹4.1 Crore)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E05326"/>
                </a:solidFill>
              </a:defRPr>
            </a:pPr>
            <a:r>
              <a:t>40% - Homemaker Onboarding &amp; FSSAI Support</a:t>
            </a:r>
          </a:p>
          <a:p>
            <a:pPr>
              <a:defRPr sz="1050">
                <a:solidFill>
                  <a:srgbClr val="1E1B18"/>
                </a:solidFill>
              </a:defRPr>
            </a:pPr>
            <a:r>
              <a:t>₹1.64 Crore allocated to kitchen onboarding, virtual audits, and licensing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E05326"/>
                </a:solidFill>
              </a:defRPr>
            </a:pPr>
            <a:r>
              <a:t>35% - Customer Acquisition &amp; Ads</a:t>
            </a:r>
          </a:p>
          <a:p>
            <a:pPr>
              <a:defRPr sz="1050">
                <a:solidFill>
                  <a:srgbClr val="1E1B18"/>
                </a:solidFill>
              </a:defRPr>
            </a:pPr>
            <a:r>
              <a:t>₹1.43 Crore allocated to digital ads, influencer marketing, and customer referral bonuses.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79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E05326"/>
                </a:solidFill>
              </a:defRPr>
            </a:pPr>
            <a:r>
              <a:t>15% - Mobile App Development</a:t>
            </a:r>
          </a:p>
          <a:p>
            <a:pPr>
              <a:defRPr sz="1050">
                <a:solidFill>
                  <a:srgbClr val="1E1B18"/>
                </a:solidFill>
              </a:defRPr>
            </a:pPr>
            <a:r>
              <a:t>₹61.5 Lakhs allocated to iOS &amp; Android native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79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5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E05326"/>
                </a:solidFill>
              </a:defRPr>
            </a:pPr>
            <a:r>
              <a:t>10% - Operations &amp; Audit Compliance</a:t>
            </a:r>
          </a:p>
          <a:p>
            <a:pPr>
              <a:defRPr sz="1050">
                <a:solidFill>
                  <a:srgbClr val="1E1B18"/>
                </a:solidFill>
              </a:defRPr>
            </a:pPr>
            <a:r>
              <a:t>₹41 Lakhs allocated to customer support and quality assurance.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E05326"/>
                </a:solidFill>
              </a:defRPr>
            </a:pPr>
            <a:r>
              <a:t>Join Us in Revolutionizing Home Food in India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🏢 Company: KookIndia Technologies Pvt Ltd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✉️ Investor Email: investor@kookindia.com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🌐 Live Prototype URL: http://localhost:3000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📂 GitHub Repository: https://github.com/njoseph11224-tech/kookindia.git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👤 Lead Engineering: Nithin Joseph &amp;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